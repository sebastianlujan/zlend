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Team, Market &amp; Metrics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building, for whom, and how we measure success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Team &amp; Market  |  1/8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MARKET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in Numbers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12131A"/>
          </a:solidFill>
          <a:ln w="12700">
            <a:solidFill>
              <a:srgbClr val="E841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$255M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13258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shielded ZEC with zero DeFi access.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5.1M ZEC • 5x growth in 2 years • Avalanche has captured $0 of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1965960" cy="1188720"/>
          </a:xfrm>
          <a:prstGeom prst="roundRect">
            <a:avLst>
              <a:gd name="adj" fmla="val 4615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290K ZEC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Wrapped on other chains. Privacy sacrificed for DeFi.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2743200"/>
            <a:ext cx="1965960" cy="1188720"/>
          </a:xfrm>
          <a:prstGeom prst="roundRect">
            <a:avLst>
              <a:gd name="adj" fmla="val 4615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7889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ZEC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3246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Avalanche today. Greenfield opportunity.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1965960" cy="1188720"/>
          </a:xfrm>
          <a:prstGeom prst="roundRect">
            <a:avLst>
              <a:gd name="adj" fmla="val 4615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7889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400-1K/day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246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Shielded transactions. Active engagement.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2743200"/>
            <a:ext cx="1965960" cy="1188720"/>
          </a:xfrm>
          <a:prstGeom prst="roundRect">
            <a:avLst>
              <a:gd name="adj" fmla="val 4615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27889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$10-20K/wk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3246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revenue. ZCash maturing.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A1B2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 caveat: Transfer volume ≠ lending demand. We cannot extrapolate collateral demand from transfer volume. User interviews needed.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Team &amp; Market  |  2/8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VALUE TO AVALANCHE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OGBank Brings to the Ecosystem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Capital Category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ZCash on Avalanche today. OGBank brings an entirely new asset class.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Quantifiable TVL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ZEC deposited = new TVL. Conservative: $1-5M. Moderate: $5-7.5M.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Aave V3 Utilization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OGBank borrow increases Aave V3 utilization. We feed it, not compete.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 DeFi Pioneer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becomes first major EVM chain with privacy-preserving lending.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301752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ZCash Community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474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400-1K daily privacy txs → new Avalanche users. Zero reason to use AVAX today.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301752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Growing Market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3474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 shielded supply growth = OGBank opportunity grows automatically.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Team &amp; Market  |  3/8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TEAM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Building OGBank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2131A"/>
          </a:solidFill>
          <a:ln w="12700">
            <a:solidFill>
              <a:srgbClr val="E8414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Co-founder  •  Fullstack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 architecture, ZK circuit design,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 V3 integration, relayer escrow design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2131A"/>
          </a:solidFill>
          <a:ln w="12700">
            <a:solidFill>
              <a:srgbClr val="058A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463040"/>
            <a:ext cx="640080" cy="640080"/>
          </a:xfrm>
          <a:prstGeom prst="ellipse">
            <a:avLst/>
          </a:prstGeom>
          <a:solidFill>
            <a:srgbClr val="058A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5216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Co-founder  •  Fullstack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ZCash integration, viewing key derivation,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proof system, relayer service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8412480" cy="1371600"/>
          </a:xfrm>
          <a:prstGeom prst="roundRect">
            <a:avLst>
              <a:gd name="adj" fmla="val 4000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structure — no hierarchy. Both decide on architecture, product, priorities.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ownership — both work on contracts, frontend, research, product.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phase: Design &amp; Architecture (pre-implementation).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Solidity, Noir/Ultrahonk, ZCash ZIP-32, Frontend, Product Design.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Team &amp; Market  |  4/8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SCOPE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 vs. What We Defer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solidFill>
            <a:srgbClr val="1A1B2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 Scope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1234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Excluded (Phase 2+)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475488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Contracts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6459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OGBankContract: deposit/borrow/repay/claim. Single ZEC + USDC.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1645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Multi-asset, variable rates, governance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 Circuits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12140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 proof + repayment proof in Noir/Ultrahonk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212140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Solvency proof (use timeout for MVP)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8412480" cy="475488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968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259689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creation, ZEC escrow, ZEC return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259689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HA, multi-region, auto-scaling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07238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07238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app: wallet connect, deposit, borrow, repay/claim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0" y="307238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Mobile, onboarding polish, education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547872"/>
            <a:ext cx="8412480" cy="475488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354787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Timeout-based: no solvency proof → flag for manual review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0" y="35478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Automated, external liquidators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02336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40233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Fuji + ZCash testnet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0" y="40233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(needs audit first)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526280"/>
            <a:ext cx="8412480" cy="182880"/>
          </a:xfrm>
          <a:prstGeom prst="roundRect">
            <a:avLst>
              <a:gd name="adj" fmla="val 15000"/>
            </a:avLst>
          </a:prstGeom>
          <a:solidFill>
            <a:srgbClr val="1A1B2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people cannot ship ZK circuits + contracts + relayer + polished frontend simultaneously. Focus on core mechanism.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Team &amp; Market  |  5/8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TIMELINE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to Testnet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Contracts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337560" y="1325880"/>
            <a:ext cx="1600200" cy="228600"/>
          </a:xfrm>
          <a:prstGeom prst="roundRect">
            <a:avLst>
              <a:gd name="adj" fmla="val 16000"/>
            </a:avLst>
          </a:prstGeom>
          <a:solidFill>
            <a:srgbClr val="E8414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weeks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Noir Circuits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560320" cy="228600"/>
          </a:xfrm>
          <a:prstGeom prst="roundRect">
            <a:avLst>
              <a:gd name="adj" fmla="val 16000"/>
            </a:avLst>
          </a:prstGeom>
          <a:solidFill>
            <a:srgbClr val="058AFF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weeks (parallel)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Relayer MVP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514600"/>
            <a:ext cx="1600200" cy="228600"/>
          </a:xfrm>
          <a:prstGeom prst="roundRect">
            <a:avLst>
              <a:gd name="adj" fmla="val 16000"/>
            </a:avLst>
          </a:prstGeom>
          <a:solidFill>
            <a:srgbClr val="F4B72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weeks (parallel)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MVP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3108960"/>
            <a:ext cx="1600200" cy="228600"/>
          </a:xfrm>
          <a:prstGeom prst="roundRect">
            <a:avLst>
              <a:gd name="adj" fmla="val 16000"/>
            </a:avLst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weeks (after contracts)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 Testing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3703320"/>
            <a:ext cx="1088136" cy="228600"/>
          </a:xfrm>
          <a:prstGeom prst="roundRect">
            <a:avLst>
              <a:gd name="adj" fmla="val 16000"/>
            </a:avLst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7717536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weeks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2131A"/>
          </a:solidFill>
          <a:ln w="12700">
            <a:solidFill>
              <a:srgbClr val="E841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~10-14 weeks to testnet MVP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buffer: ZK circuit dev is unpredictable. +4-8 weeks possible.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Funding Strategy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Foundation grant (not applied)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ZCash Foundation grant (not applied)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prizes (active — current phase)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Self-funded (current — unlimited flexibility)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Team &amp; Market  |  6/8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METRICS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 Success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2131A"/>
          </a:solidFill>
          <a:ln w="19050">
            <a:solidFill>
              <a:srgbClr val="E841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 STAR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ZEC Deposited in Active Escrow (TVL in ZEC terms)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Metrics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4023360" cy="320040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completion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60%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deposit size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50 ZEC (~$2.5K)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4023360" cy="320040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completion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80%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borrow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3520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10 min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4023360" cy="320040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success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194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 Metrics (Hard Constraints)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023360" cy="320040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 loss events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2560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(existential)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failure rate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200400"/>
            <a:ext cx="4023360" cy="320040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gen failure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Relayer uptime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23760" y="3520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99.5%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20624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1A1B24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do NOT track: signups, page views, social followers, TVL in USD (ZEC volatility distorts), features shipped.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Team &amp; Market  |  7/8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SUCCESS CRITERIA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Milestones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2011680" cy="2926080"/>
          </a:xfrm>
          <a:prstGeom prst="roundRect">
            <a:avLst>
              <a:gd name="adj" fmla="val 2727"/>
            </a:avLst>
          </a:prstGeom>
          <a:solidFill>
            <a:srgbClr val="12131A"/>
          </a:solidFill>
          <a:ln w="12700">
            <a:solidFill>
              <a:srgbClr val="058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of Life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737360" cy="18288"/>
          </a:xfrm>
          <a:prstGeom prst="rect">
            <a:avLst/>
          </a:prstGeom>
          <a:solidFill>
            <a:srgbClr val="2A2B3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9456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deposits from 10 unique ZCash addresses, all completing full borrow-repay-claim cycle.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2011680" cy="2926080"/>
          </a:xfrm>
          <a:prstGeom prst="roundRect">
            <a:avLst>
              <a:gd name="adj" fmla="val 2727"/>
            </a:avLst>
          </a:prstGeom>
          <a:solidFill>
            <a:srgbClr val="12131A"/>
          </a:solidFill>
          <a:ln w="12700">
            <a:solidFill>
              <a:srgbClr val="F4B7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 Traction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2103120"/>
            <a:ext cx="1737360" cy="18288"/>
          </a:xfrm>
          <a:prstGeom prst="rect">
            <a:avLst/>
          </a:prstGeom>
          <a:solidFill>
            <a:srgbClr val="2A2B34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219456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deposits, 30+ completed cycles, 0 collateral loss events.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2011680" cy="2926080"/>
          </a:xfrm>
          <a:prstGeom prst="roundRect">
            <a:avLst>
              <a:gd name="adj" fmla="val 2727"/>
            </a:avLst>
          </a:prstGeom>
          <a:solidFill>
            <a:srgbClr val="1213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PMF Signal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103120"/>
            <a:ext cx="1737360" cy="18288"/>
          </a:xfrm>
          <a:prstGeom prst="rect">
            <a:avLst/>
          </a:prstGeom>
          <a:solidFill>
            <a:srgbClr val="2A2B34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19456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deposits, 50+ unique users, 20%+ repeat usage, positive ZCash sentiment.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280160"/>
            <a:ext cx="2011680" cy="2926080"/>
          </a:xfrm>
          <a:prstGeom prst="roundRect">
            <a:avLst>
              <a:gd name="adj" fmla="val 2727"/>
            </a:avLst>
          </a:prstGeom>
          <a:solidFill>
            <a:srgbClr val="12131A"/>
          </a:solidFill>
          <a:ln w="12700">
            <a:solidFill>
              <a:srgbClr val="E841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Gate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8660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Phase 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86600" y="2103120"/>
            <a:ext cx="1737360" cy="18288"/>
          </a:xfrm>
          <a:prstGeom prst="rect">
            <a:avLst/>
          </a:prstGeom>
          <a:solidFill>
            <a:srgbClr val="2A2B34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219456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Phase 1 criteria + security audit + community endorsement. Then invest in Alex UX.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34340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1A1B24"/>
          </a:solidFill>
          <a:ln w="12700">
            <a:solidFill>
              <a:srgbClr val="F4B7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validation score: 192/250 ("Investigate More"). We're honest about what's validated and what needs more evidence.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Team &amp; Market  |  8/8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OGBank — Team, Market &amp; Metrics</dc:title>
  <dc:subject>PptxGenJS Presentation</dc:subject>
  <dc:creator>OGBank Team</dc:creator>
  <cp:lastModifiedBy>OGBank Team</cp:lastModifiedBy>
  <cp:revision>1</cp:revision>
  <dcterms:created xsi:type="dcterms:W3CDTF">2026-02-23T05:42:08Z</dcterms:created>
  <dcterms:modified xsi:type="dcterms:W3CDTF">2026-02-23T05:42:08Z</dcterms:modified>
</cp:coreProperties>
</file>