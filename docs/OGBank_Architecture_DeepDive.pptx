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1097280" cy="54864"/>
          </a:xfrm>
          <a:prstGeom prst="rect">
            <a:avLst/>
          </a:prstGeom>
          <a:solidFill>
            <a:srgbClr val="E841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Deep Dive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OGBank bridges ZCash privacy with Avalanche DeFi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Noir / Ultrahonk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32004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Aave V3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32004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ZIP-32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320040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 C-Chain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1/7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FLOW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OGBank Works — 3 Steps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01_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ZCash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ZEC to your OGBank escrow address. Your viewing key confirms the deposit arrived.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02_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&amp; Borrow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+ Avalanche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6517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generates ZK proof of deposit. Submit to OGBank contract on Avalanche. Borrow USDC via Aave V3.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03_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 &amp; Claim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Avalanche + ZCash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09360" y="265176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Repay USDC on Avalanche. Generate repayment proof. Protocol returns ZEC to your address.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2/7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NETWORK MAP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Where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12131A"/>
          </a:solidFill>
          <a:ln w="19050">
            <a:solidFill>
              <a:srgbClr val="F4B7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 Network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addresses (protocol holds spending key)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deposits ZEC (shielded)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verifies balance via viewing key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Relayer returns ZEC after repayment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22860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 Proof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931920" y="2834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Return Signal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12131A"/>
          </a:solidFill>
          <a:ln w="19050">
            <a:solidFill>
              <a:srgbClr val="E841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Avalanche C-Chain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OGBank contract (verifies proofs, manages loans)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Ultrahonk Verifier (on-chain proof check)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Aave V3 lending pool (issues USDC borrows)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→ user's Avalanche wallet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25196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A1B2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Off-chain  |  Relayer: creates escrow addresses, manages ZEC returns  |  Browser: generates ZK proofs locally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3/7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TRUST MODEL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Holds What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2131A"/>
          </a:solidFill>
          <a:ln w="19050">
            <a:solidFill>
              <a:srgbClr val="058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VIEWING KEY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 by: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escrow balance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ZK proofs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deposit arrived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move funds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12131A"/>
          </a:solidFill>
          <a:ln w="19050">
            <a:solidFill>
              <a:srgbClr val="E841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SPENDING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Held by: PROTOCOL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ZEC in/out of escrow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collateral after repayment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forge ZK proofs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skip on-chain verification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8412480" cy="1051560"/>
          </a:xfrm>
          <a:prstGeom prst="roundRect">
            <a:avLst>
              <a:gd name="adj" fmla="val 5217"/>
            </a:avLst>
          </a:prstGeom>
          <a:solidFill>
            <a:srgbClr val="1A1B24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61188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4B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trade-off: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OGBank holds your ZEC during the loan. The relayer could not return it. Mitigations: (1) On-chain proof of obligation. (2) Protocol-level custody — our reputation depends on returning funds. (3) Future: multi-sig escrow via threshold signatures.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4/7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PRIVACY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Hidden, What's Public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solidFill>
            <a:srgbClr val="1A1B2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912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CAN SEE 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ZCash address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from Avalanche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ZEC deposit amount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you + protocol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address link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the protocol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borrow amount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on Avalanche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repayment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on Avalanche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ZCash ↔ Avalanche link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the protocol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Private    </a:t>
            </a:r>
            <a:pPr indent="0" marL="0">
              <a:buNone/>
            </a:pPr>
            <a:r>
              <a:rPr lang="en-US" sz="1000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Public (required for Aave V3)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5/7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RESILIENCE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Scenarios &amp; Recovery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Relayer 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create accounts or return ZEC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Restart. Keys derived, not lost.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gen fails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blocked at borrow/claim 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Retry. CLI fallback tool.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Aave V3 paused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borrow or repay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Wait. ZEC safe in escrow.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Lost viewing key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generate proofs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874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Re-derive via user_secret.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ZEC flash crash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Liquidation triggered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Over-collateralization buffer.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4160520" cy="1005840"/>
          </a:xfrm>
          <a:prstGeom prst="roundRect">
            <a:avLst>
              <a:gd name="adj" fmla="val 5455"/>
            </a:avLst>
          </a:prstGeom>
          <a:solidFill>
            <a:srgbClr val="12131A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bug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fund loss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Recovery: Emergency pause. Audit required.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6/7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LIQUIDATION ]</a:t>
            </a:r>
            <a:endParaRPr lang="en-US" sz="10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Collateral Value Drops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2011680" cy="219456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058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8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150%+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safe. User monitors via dashboard + viewing key.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2011680" cy="219456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F4B7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alert. User advised to add collateral or repay.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2011680" cy="219456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Liquidation imminent. Final proactive warning sent.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49440" y="1280160"/>
            <a:ext cx="2011680" cy="2194560"/>
          </a:xfrm>
          <a:prstGeom prst="roundRect">
            <a:avLst>
              <a:gd name="adj" fmla="val 2727"/>
            </a:avLst>
          </a:prstGeom>
          <a:solidFill>
            <a:srgbClr val="12131A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3716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Liquidated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&lt;120%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86600" y="219456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ZEC seized to cover USDC debt. Remaining ZEC claimable.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914400"/>
          </a:xfrm>
          <a:prstGeom prst="roundRect">
            <a:avLst>
              <a:gd name="adj" fmla="val 6000"/>
            </a:avLst>
          </a:prstGeom>
          <a:solidFill>
            <a:srgbClr val="1A1B24"/>
          </a:solidFill>
          <a:ln w="12700">
            <a:solidFill>
              <a:srgbClr val="2A2B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4B7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Design Questions: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triggers liquidation? (relayer vs external)  •  How is seized ZEC converted to USDC?  •  Liquidation penalty? (5-15%)  •  Partial liquidation support?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OGBank Architecture  |  7/7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OGBank — Architecture Deep Dive</dc:title>
  <dc:subject>PptxGenJS Presentation</dc:subject>
  <dc:creator>OGBank Team</dc:creator>
  <cp:lastModifiedBy>OGBank Team</cp:lastModifiedBy>
  <cp:revision>1</cp:revision>
  <dcterms:created xsi:type="dcterms:W3CDTF">2026-02-23T05:42:06Z</dcterms:created>
  <dcterms:modified xsi:type="dcterms:W3CDTF">2026-02-23T05:42:06Z</dcterms:modified>
</cp:coreProperties>
</file>