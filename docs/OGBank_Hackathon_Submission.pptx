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808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E84142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37160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spc="300" kern="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OGBank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548640" y="237744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8C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Access DeFi. Keep your ZEC.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48640" y="2926080"/>
            <a:ext cx="5486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5C63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first gateway routing ZCash capital into Avalanche DeFi</a:t>
            </a:r>
            <a:endParaRPr lang="en-US" sz="12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5C63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 privacy preserved by design.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217920" y="1463040"/>
            <a:ext cx="2377440" cy="365760"/>
          </a:xfrm>
          <a:prstGeom prst="roundRect">
            <a:avLst>
              <a:gd name="adj" fmla="val 10000"/>
            </a:avLst>
          </a:prstGeom>
          <a:solidFill>
            <a:srgbClr val="13141C"/>
          </a:solidFill>
          <a:ln w="9525">
            <a:solidFill>
              <a:srgbClr val="22233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217920" y="146304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58A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Noir / Ultrahonk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217920" y="1965960"/>
            <a:ext cx="2377440" cy="365760"/>
          </a:xfrm>
          <a:prstGeom prst="roundRect">
            <a:avLst>
              <a:gd name="adj" fmla="val 10000"/>
            </a:avLst>
          </a:prstGeom>
          <a:solidFill>
            <a:srgbClr val="13141C"/>
          </a:solidFill>
          <a:ln w="9525">
            <a:solidFill>
              <a:srgbClr val="22233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217920" y="196596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58A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Aave V3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6217920" y="2468880"/>
            <a:ext cx="2377440" cy="365760"/>
          </a:xfrm>
          <a:prstGeom prst="roundRect">
            <a:avLst>
              <a:gd name="adj" fmla="val 10000"/>
            </a:avLst>
          </a:prstGeom>
          <a:solidFill>
            <a:srgbClr val="13141C"/>
          </a:solidFill>
          <a:ln w="9525">
            <a:solidFill>
              <a:srgbClr val="22233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217920" y="246888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58A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ZIP-32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2971800"/>
            <a:ext cx="2377440" cy="365760"/>
          </a:xfrm>
          <a:prstGeom prst="roundRect">
            <a:avLst>
              <a:gd name="adj" fmla="val 10000"/>
            </a:avLst>
          </a:prstGeom>
          <a:solidFill>
            <a:srgbClr val="13141C"/>
          </a:solidFill>
          <a:ln w="9525">
            <a:solidFill>
              <a:srgbClr val="22233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217920" y="297180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58A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Avalanche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548640" y="4206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3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Franco &amp; Seba  |  Avalanche Build Games 2026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5C63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OGBank  •  Avalanche Build Games 2026  •  1/10</a:t>
            </a:r>
            <a:endParaRPr lang="en-US" sz="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808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5029200" cy="3291840"/>
          </a:xfrm>
          <a:prstGeom prst="roundRect">
            <a:avLst>
              <a:gd name="adj" fmla="val 2778"/>
            </a:avLst>
          </a:prstGeom>
          <a:solidFill>
            <a:srgbClr val="13141C"/>
          </a:solidFill>
          <a:ln w="9525">
            <a:solidFill>
              <a:srgbClr val="222330"/>
            </a:solidFill>
            <a:prstDash val="solid"/>
          </a:ln>
          <a:effectLst>
            <a:outerShdw sx="100000" sy="100000" kx="0" ky="0" algn="bl" rotWithShape="0" blurRad="101600" dist="38100" dir="16200000">
              <a:srgbClr val="000000">
                <a:alpha val="4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731520" y="123444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8414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$255M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731520" y="192024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shielded ZEC — zero DeFi access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31520" y="2468880"/>
            <a:ext cx="4389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60000"/>
              </a:lnSpc>
              <a:buSzPct val="100000"/>
              <a:buChar char="•"/>
            </a:pPr>
            <a:r>
              <a:rPr lang="en-US" sz="1100" dirty="0">
                <a:solidFill>
                  <a:srgbClr val="C8C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5.1M ZEC in shielded pools, growing 5x in 2 years</a:t>
            </a:r>
            <a:endParaRPr lang="en-US" sz="1100" dirty="0"/>
          </a:p>
          <a:p>
            <a:pPr marL="342900" indent="-342900">
              <a:lnSpc>
                <a:spcPct val="160000"/>
              </a:lnSpc>
              <a:buSzPct val="100000"/>
              <a:buChar char="•"/>
            </a:pPr>
            <a:r>
              <a:rPr lang="en-US" sz="1100" dirty="0">
                <a:solidFill>
                  <a:srgbClr val="C8C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290K ZEC already wrapped on other chains (privacy sacrificed)</a:t>
            </a:r>
            <a:endParaRPr lang="en-US" sz="1100" dirty="0"/>
          </a:p>
          <a:p>
            <a:pPr marL="342900" indent="-342900">
              <a:lnSpc>
                <a:spcPct val="160000"/>
              </a:lnSpc>
              <a:buSzPct val="100000"/>
              <a:buChar char="•"/>
            </a:pPr>
            <a:r>
              <a:rPr lang="en-US" sz="1100" dirty="0">
                <a:solidFill>
                  <a:srgbClr val="F4B7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ZEC on Avalanche today — greenfield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760720" y="1097280"/>
            <a:ext cx="3017520" cy="3291840"/>
          </a:xfrm>
          <a:prstGeom prst="roundRect">
            <a:avLst>
              <a:gd name="adj" fmla="val 3030"/>
            </a:avLst>
          </a:prstGeom>
          <a:solidFill>
            <a:srgbClr val="13141C"/>
          </a:solidFill>
          <a:ln w="9525">
            <a:solidFill>
              <a:srgbClr val="222330"/>
            </a:solidFill>
            <a:prstDash val="solid"/>
          </a:ln>
          <a:effectLst>
            <a:outerShdw sx="100000" sy="100000" kx="0" ky="0" algn="bl" rotWithShape="0" blurRad="101600" dist="38100" dir="16200000">
              <a:srgbClr val="000000">
                <a:alpha val="4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035040" y="128016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58A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Glass House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035040" y="173736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 lending is fully public.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035040" y="2194560"/>
            <a:ext cx="25603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60000"/>
              </a:lnSpc>
              <a:buSzPct val="100000"/>
              <a:buChar char="•"/>
            </a:pPr>
            <a:r>
              <a:rPr lang="en-US" sz="1000" dirty="0">
                <a:solidFill>
                  <a:srgbClr val="5C63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Collateral + debt visible to everyone</a:t>
            </a:r>
            <a:endParaRPr lang="en-US" sz="1000" dirty="0"/>
          </a:p>
          <a:p>
            <a:pPr marL="342900" indent="-342900">
              <a:lnSpc>
                <a:spcPct val="160000"/>
              </a:lnSpc>
              <a:buSzPct val="100000"/>
              <a:buChar char="•"/>
            </a:pPr>
            <a:r>
              <a:rPr lang="en-US" sz="1000" dirty="0">
                <a:solidFill>
                  <a:srgbClr val="5C63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MEV bots front-run liquidations</a:t>
            </a:r>
            <a:endParaRPr lang="en-US" sz="1000" dirty="0"/>
          </a:p>
          <a:p>
            <a:pPr marL="342900" indent="-342900">
              <a:lnSpc>
                <a:spcPct val="160000"/>
              </a:lnSpc>
              <a:buSzPct val="100000"/>
              <a:buChar char="•"/>
            </a:pPr>
            <a:r>
              <a:rPr lang="en-US" sz="1000" dirty="0">
                <a:solidFill>
                  <a:srgbClr val="5C63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Position profiling + targeted attacks</a:t>
            </a:r>
            <a:endParaRPr lang="en-US" sz="1000" dirty="0"/>
          </a:p>
          <a:p>
            <a:pPr marL="342900" indent="-342900">
              <a:lnSpc>
                <a:spcPct val="160000"/>
              </a:lnSpc>
              <a:buSzPct val="100000"/>
              <a:buChar char="•"/>
            </a:pPr>
            <a:r>
              <a:rPr lang="en-US" sz="1000" dirty="0">
                <a:solidFill>
                  <a:srgbClr val="5C63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privacy tool solves lending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5C63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OGBank  •  Avalanche Build Games 2026  •  2/10</a:t>
            </a:r>
            <a:endParaRPr lang="en-US" sz="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808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Solution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3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Lock. Unlock. Return.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2697480" cy="2377440"/>
          </a:xfrm>
          <a:prstGeom prst="roundRect">
            <a:avLst>
              <a:gd name="adj" fmla="val 3077"/>
            </a:avLst>
          </a:prstGeom>
          <a:solidFill>
            <a:srgbClr val="13141C"/>
          </a:solidFill>
          <a:ln w="9525">
            <a:solidFill>
              <a:srgbClr val="222330"/>
            </a:solidFill>
            <a:prstDash val="solid"/>
          </a:ln>
          <a:effectLst>
            <a:outerShdw sx="100000" sy="100000" kx="0" ky="0" algn="bl" rotWithShape="0" blurRad="101600" dist="38100" dir="16200000">
              <a:srgbClr val="000000">
                <a:alpha val="4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85800" y="160020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4B7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 01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85800" y="19659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Lock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685800" y="242316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C8C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Deposit ZEC into OGBank escrow.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C8C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Viewing key confirms arrival.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337560" y="1463040"/>
            <a:ext cx="2697480" cy="2377440"/>
          </a:xfrm>
          <a:prstGeom prst="roundRect">
            <a:avLst>
              <a:gd name="adj" fmla="val 3077"/>
            </a:avLst>
          </a:prstGeom>
          <a:solidFill>
            <a:srgbClr val="13141C"/>
          </a:solidFill>
          <a:ln w="9525">
            <a:solidFill>
              <a:srgbClr val="222330"/>
            </a:solidFill>
            <a:prstDash val="solid"/>
          </a:ln>
          <a:effectLst>
            <a:outerShdw sx="100000" sy="100000" kx="0" ky="0" algn="bl" rotWithShape="0" blurRad="101600" dist="38100" dir="16200000">
              <a:srgbClr val="000000">
                <a:alpha val="4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566160" y="160020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8A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 02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566160" y="19659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Unlock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3566160" y="242316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C8C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Browser generates ZK proof.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C8C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Borrow USDC on Avalanche via Aave V3.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217920" y="1463040"/>
            <a:ext cx="2697480" cy="2377440"/>
          </a:xfrm>
          <a:prstGeom prst="roundRect">
            <a:avLst>
              <a:gd name="adj" fmla="val 3077"/>
            </a:avLst>
          </a:prstGeom>
          <a:solidFill>
            <a:srgbClr val="13141C"/>
          </a:solidFill>
          <a:ln w="9525">
            <a:solidFill>
              <a:srgbClr val="222330"/>
            </a:solidFill>
            <a:prstDash val="solid"/>
          </a:ln>
          <a:effectLst>
            <a:outerShdw sx="100000" sy="100000" kx="0" ky="0" algn="bl" rotWithShape="0" blurRad="101600" dist="38100" dir="16200000">
              <a:srgbClr val="000000">
                <a:alpha val="4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446520" y="160020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414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 03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446520" y="19659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Return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6446520" y="242316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C8C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Repay USDC. Prove repayment.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C8C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ZEC is released back to you.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4114800"/>
            <a:ext cx="8229600" cy="502920"/>
          </a:xfrm>
          <a:prstGeom prst="roundRect">
            <a:avLst>
              <a:gd name="adj" fmla="val 9091"/>
            </a:avLst>
          </a:prstGeom>
          <a:solidFill>
            <a:srgbClr val="1A1B25"/>
          </a:solidFill>
          <a:ln/>
        </p:spPr>
      </p:sp>
      <p:sp>
        <p:nvSpPr>
          <p:cNvPr id="17" name="Text 15"/>
          <p:cNvSpPr/>
          <p:nvPr/>
        </p:nvSpPr>
        <p:spPr>
          <a:xfrm>
            <a:off x="731520" y="4114800"/>
            <a:ext cx="7772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3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DeFi Gateway for ZCash on Avalanche  —  Not a mixer. Built on Aave V3. Privacy is the differentiator.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5C63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OGBank  •  Avalanche Build Games 2026  •  3/10</a:t>
            </a:r>
            <a:endParaRPr lang="en-US" sz="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808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3474720" cy="2926080"/>
          </a:xfrm>
          <a:prstGeom prst="roundRect">
            <a:avLst>
              <a:gd name="adj" fmla="val 3125"/>
            </a:avLst>
          </a:prstGeom>
          <a:solidFill>
            <a:srgbClr val="13141C"/>
          </a:solidFill>
          <a:ln w="15240">
            <a:solidFill>
              <a:srgbClr val="F4B72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1234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4B7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ZCASH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31520" y="1691640"/>
            <a:ext cx="29260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Escrow address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C63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Protocol holds spending key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 deposit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C63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Shielded ZEC transfer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Viewing key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C63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 verifies + generates proofs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931920" y="1920240"/>
            <a:ext cx="1280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58A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ZK Proof →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3931920" y="2468880"/>
            <a:ext cx="1280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63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← ZEC Return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212080" y="1097280"/>
            <a:ext cx="3474720" cy="2926080"/>
          </a:xfrm>
          <a:prstGeom prst="roundRect">
            <a:avLst>
              <a:gd name="adj" fmla="val 3125"/>
            </a:avLst>
          </a:prstGeom>
          <a:solidFill>
            <a:srgbClr val="13141C"/>
          </a:solidFill>
          <a:ln w="15240">
            <a:solidFill>
              <a:srgbClr val="E8414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0" y="1234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414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AVALANCHE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486400" y="1691640"/>
            <a:ext cx="29260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OGBankContract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C63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Verifies proofs, orchestrates loans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Ultrahonk Verifier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C63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On-chain ZK proof validation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Aave V3 Pool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C63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Issues USDC borrows → user wallet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4160520"/>
            <a:ext cx="8229600" cy="502920"/>
          </a:xfrm>
          <a:prstGeom prst="roundRect">
            <a:avLst>
              <a:gd name="adj" fmla="val 9091"/>
            </a:avLst>
          </a:prstGeom>
          <a:solidFill>
            <a:srgbClr val="1A1B25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4160520"/>
            <a:ext cx="7772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3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Trust model:  Viewing key (you) = verify + prove   |   Spending key (protocol) = escrow custody   |   Honest trade-off, not hidden.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5C63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OGBank  •  Avalanche Build Games 2026  •  4/10</a:t>
            </a:r>
            <a:endParaRPr lang="en-US" sz="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808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8229600" cy="1005840"/>
          </a:xfrm>
          <a:prstGeom prst="roundRect">
            <a:avLst>
              <a:gd name="adj" fmla="val 7273"/>
            </a:avLst>
          </a:prstGeom>
          <a:solidFill>
            <a:srgbClr val="13141C"/>
          </a:solidFill>
          <a:ln w="12700">
            <a:solidFill>
              <a:srgbClr val="E8414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105156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8414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$255M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3108960" y="1051560"/>
            <a:ext cx="5303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C8C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shielded ZEC. 5x growth in 2 years.</a:t>
            </a:r>
            <a:endParaRPr lang="en-US" sz="13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C8C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Avalanche has captured $0.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2331720"/>
            <a:ext cx="1920240" cy="1051560"/>
          </a:xfrm>
          <a:prstGeom prst="roundRect">
            <a:avLst>
              <a:gd name="adj" fmla="val 5217"/>
            </a:avLst>
          </a:prstGeom>
          <a:solidFill>
            <a:srgbClr val="13141C"/>
          </a:solidFill>
          <a:ln w="9525">
            <a:solidFill>
              <a:srgbClr val="22233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237744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8414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5x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594360" y="288036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3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Shielded pool growth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560320" y="2331720"/>
            <a:ext cx="1920240" cy="1051560"/>
          </a:xfrm>
          <a:prstGeom prst="roundRect">
            <a:avLst>
              <a:gd name="adj" fmla="val 5217"/>
            </a:avLst>
          </a:prstGeom>
          <a:solidFill>
            <a:srgbClr val="13141C"/>
          </a:solidFill>
          <a:ln w="9525">
            <a:solidFill>
              <a:srgbClr val="22233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697480" y="237744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B7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290K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2697480" y="288036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3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ZEC cross-chain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663440" y="2331720"/>
            <a:ext cx="1920240" cy="1051560"/>
          </a:xfrm>
          <a:prstGeom prst="roundRect">
            <a:avLst>
              <a:gd name="adj" fmla="val 5217"/>
            </a:avLst>
          </a:prstGeom>
          <a:solidFill>
            <a:srgbClr val="13141C"/>
          </a:solidFill>
          <a:ln w="9525">
            <a:solidFill>
              <a:srgbClr val="22233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800600" y="237744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58A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4800600" y="288036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3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ZEC on Avalanche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766560" y="2331720"/>
            <a:ext cx="1920240" cy="1051560"/>
          </a:xfrm>
          <a:prstGeom prst="roundRect">
            <a:avLst>
              <a:gd name="adj" fmla="val 5217"/>
            </a:avLst>
          </a:prstGeom>
          <a:solidFill>
            <a:srgbClr val="13141C"/>
          </a:solidFill>
          <a:ln w="9525">
            <a:solidFill>
              <a:srgbClr val="22233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903720" y="237744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4D3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400+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6903720" y="288036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3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Daily private txs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548640" y="36576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58A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Value to Avalanche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48640" y="39319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3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capital category (0 ZEC on AVAX today)   •   $1-7.5M new TVL   •   Feeds Aave V3 utilization   •   First privacy DeFi on EVM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5C63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OGBank  •  Avalanche Build Games 2026  •  5/10</a:t>
            </a:r>
            <a:endParaRPr lang="en-US" sz="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808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Strategy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3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Morgan validates. Alex scales.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3931920" cy="3108960"/>
          </a:xfrm>
          <a:prstGeom prst="roundRect">
            <a:avLst>
              <a:gd name="adj" fmla="val 2941"/>
            </a:avLst>
          </a:prstGeom>
          <a:solidFill>
            <a:srgbClr val="13141C"/>
          </a:solidFill>
          <a:ln w="19050">
            <a:solidFill>
              <a:srgbClr val="E84142"/>
            </a:solidFill>
            <a:prstDash val="solid"/>
          </a:ln>
          <a:effectLst>
            <a:outerShdw sx="100000" sy="100000" kx="0" ky="0" algn="bl" rotWithShape="0" blurRad="101600" dist="38100" dir="16200000">
              <a:srgbClr val="000000">
                <a:alpha val="4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46304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414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Phase 1: LAUNCH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31520" y="182880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Morgan — ZCash Native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31520" y="2286000"/>
            <a:ext cx="3474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100" dirty="0">
                <a:solidFill>
                  <a:srgbClr val="C8C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Already has ZEC in shielded pool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100" dirty="0">
                <a:solidFill>
                  <a:srgbClr val="C8C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steps to first borrow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100" dirty="0">
                <a:solidFill>
                  <a:srgbClr val="C8C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Low acquisition cost (ZCash forums)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100" dirty="0">
                <a:solidFill>
                  <a:srgbClr val="C8C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Validates tech (reads circuits)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31520" y="384048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414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Success: 100 deposits from ZCash natives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754880" y="1371600"/>
            <a:ext cx="3931920" cy="3108960"/>
          </a:xfrm>
          <a:prstGeom prst="roundRect">
            <a:avLst>
              <a:gd name="adj" fmla="val 2941"/>
            </a:avLst>
          </a:prstGeom>
          <a:solidFill>
            <a:srgbClr val="13141C"/>
          </a:solidFill>
          <a:ln w="9525">
            <a:solidFill>
              <a:srgbClr val="22233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0" y="146304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C63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Phase 2: GROWTH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029200" y="182880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C63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Alex — Private Holder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029200" y="2286000"/>
            <a:ext cx="3474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100" dirty="0">
                <a:solidFill>
                  <a:srgbClr val="5C63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Needs to buy ZEC first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100" dirty="0">
                <a:solidFill>
                  <a:srgbClr val="5C63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5+ steps to first borrow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100" dirty="0">
                <a:solidFill>
                  <a:srgbClr val="5C63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 acquisition cost (SEO, ads)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100" dirty="0">
                <a:solidFill>
                  <a:srgbClr val="5C63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Trusts marketing, not code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029200" y="384048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3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Gate: 100 deposits + 0 loss + audit + community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5C63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OGBank  •  Avalanche Build Games 2026  •  6/10</a:t>
            </a:r>
            <a:endParaRPr lang="en-US" sz="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808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Morgan's Journey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2697480" cy="1737360"/>
          </a:xfrm>
          <a:prstGeom prst="roundRect">
            <a:avLst>
              <a:gd name="adj" fmla="val 3158"/>
            </a:avLst>
          </a:prstGeom>
          <a:solidFill>
            <a:srgbClr val="13141C"/>
          </a:solidFill>
          <a:ln w="9525">
            <a:solidFill>
              <a:srgbClr val="22233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188720"/>
            <a:ext cx="365760" cy="365760"/>
          </a:xfrm>
          <a:prstGeom prst="ellipse">
            <a:avLst/>
          </a:prstGeom>
          <a:solidFill>
            <a:srgbClr val="E84142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18872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43000" y="11887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Awareness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169164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C8C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ZCash Forum/Discord.</a:t>
            </a:r>
            <a:endParaRPr lang="en-US" sz="1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C8C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Technical post, not marketing.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40080" y="242316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C63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Risk: Medium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3337560" y="1051560"/>
            <a:ext cx="2697480" cy="1737360"/>
          </a:xfrm>
          <a:prstGeom prst="roundRect">
            <a:avLst>
              <a:gd name="adj" fmla="val 3158"/>
            </a:avLst>
          </a:prstGeom>
          <a:solidFill>
            <a:srgbClr val="13141C"/>
          </a:solidFill>
          <a:ln w="9525">
            <a:solidFill>
              <a:srgbClr val="22233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520440" y="1188720"/>
            <a:ext cx="365760" cy="365760"/>
          </a:xfrm>
          <a:prstGeom prst="ellipse">
            <a:avLst/>
          </a:prstGeom>
          <a:solidFill>
            <a:srgbClr val="E84142"/>
          </a:solidFill>
          <a:ln/>
        </p:spPr>
      </p:sp>
      <p:sp>
        <p:nvSpPr>
          <p:cNvPr id="11" name="Text 9"/>
          <p:cNvSpPr/>
          <p:nvPr/>
        </p:nvSpPr>
        <p:spPr>
          <a:xfrm>
            <a:off x="3520440" y="118872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023360" y="11887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Due Diligence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520440" y="169164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C8C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Reviews code, trust model,</a:t>
            </a:r>
            <a:endParaRPr lang="en-US" sz="1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C8C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Noir circuits. 30-60 min.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520440" y="242316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C63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Risk: Med-High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6217920" y="1051560"/>
            <a:ext cx="2697480" cy="1737360"/>
          </a:xfrm>
          <a:prstGeom prst="roundRect">
            <a:avLst>
              <a:gd name="adj" fmla="val 3158"/>
            </a:avLst>
          </a:prstGeom>
          <a:solidFill>
            <a:srgbClr val="13141C"/>
          </a:solidFill>
          <a:ln w="9525">
            <a:solidFill>
              <a:srgbClr val="22233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0" y="1188720"/>
            <a:ext cx="365760" cy="365760"/>
          </a:xfrm>
          <a:prstGeom prst="ellipse">
            <a:avLst/>
          </a:prstGeom>
          <a:solidFill>
            <a:srgbClr val="E84142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0" y="118872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903720" y="11887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Onboarding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400800" y="169164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C8C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Small test deposit.</a:t>
            </a:r>
            <a:endParaRPr lang="en-US" sz="1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C8C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Verifies escrow + keys.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400800" y="242316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C63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Risk: Low-Med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457200" y="3017520"/>
            <a:ext cx="2697480" cy="1737360"/>
          </a:xfrm>
          <a:prstGeom prst="roundRect">
            <a:avLst>
              <a:gd name="adj" fmla="val 3158"/>
            </a:avLst>
          </a:prstGeom>
          <a:solidFill>
            <a:srgbClr val="13141C"/>
          </a:solidFill>
          <a:ln w="9525">
            <a:solidFill>
              <a:srgbClr val="22233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40080" y="3154680"/>
            <a:ext cx="365760" cy="365760"/>
          </a:xfrm>
          <a:prstGeom prst="ellipse">
            <a:avLst/>
          </a:prstGeom>
          <a:solidFill>
            <a:srgbClr val="E84142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315468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1143000" y="315468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 Borrow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640080" y="365760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C8C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Borrows USDC.</a:t>
            </a:r>
            <a:endParaRPr lang="en-US" sz="1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C8C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Inspects proof assertions.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40080" y="438912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C63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Risk: Low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3337560" y="3017520"/>
            <a:ext cx="2697480" cy="1737360"/>
          </a:xfrm>
          <a:prstGeom prst="roundRect">
            <a:avLst>
              <a:gd name="adj" fmla="val 3158"/>
            </a:avLst>
          </a:prstGeom>
          <a:solidFill>
            <a:srgbClr val="13141C"/>
          </a:solidFill>
          <a:ln w="9525">
            <a:solidFill>
              <a:srgbClr val="22233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520440" y="3154680"/>
            <a:ext cx="365760" cy="365760"/>
          </a:xfrm>
          <a:prstGeom prst="ellipse">
            <a:avLst/>
          </a:prstGeom>
          <a:solidFill>
            <a:srgbClr val="E84142"/>
          </a:solidFill>
          <a:ln/>
        </p:spPr>
      </p:sp>
      <p:sp>
        <p:nvSpPr>
          <p:cNvPr id="29" name="Text 27"/>
          <p:cNvSpPr/>
          <p:nvPr/>
        </p:nvSpPr>
        <p:spPr>
          <a:xfrm>
            <a:off x="3520440" y="315468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023360" y="315468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Active Use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520440" y="365760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C8C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Monitors position.</a:t>
            </a:r>
            <a:endParaRPr lang="en-US" sz="1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C8C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Verifies oracle independently.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3520440" y="438912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C63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Risk: Low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6217920" y="3017520"/>
            <a:ext cx="2697480" cy="1737360"/>
          </a:xfrm>
          <a:prstGeom prst="roundRect">
            <a:avLst>
              <a:gd name="adj" fmla="val 3158"/>
            </a:avLst>
          </a:prstGeom>
          <a:solidFill>
            <a:srgbClr val="13141C"/>
          </a:solidFill>
          <a:ln w="9525">
            <a:solidFill>
              <a:srgbClr val="22233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400800" y="3154680"/>
            <a:ext cx="365760" cy="365760"/>
          </a:xfrm>
          <a:prstGeom prst="ellipse">
            <a:avLst/>
          </a:prstGeom>
          <a:solidFill>
            <a:srgbClr val="E84142"/>
          </a:solidFill>
          <a:ln/>
        </p:spPr>
      </p:sp>
      <p:sp>
        <p:nvSpPr>
          <p:cNvPr id="35" name="Text 33"/>
          <p:cNvSpPr/>
          <p:nvPr/>
        </p:nvSpPr>
        <p:spPr>
          <a:xfrm>
            <a:off x="6400800" y="315468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903720" y="315468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Claim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6400800" y="365760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C8C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Repays USDC. Verifies</a:t>
            </a:r>
            <a:endParaRPr lang="en-US" sz="1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C8C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ZEC return on-chain.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6400800" y="438912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C63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Risk: Low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5C63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OGBank  •  Avalanche Build Games 2026  •  7/10</a:t>
            </a:r>
            <a:endParaRPr lang="en-US" sz="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808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&amp; Scope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3931920" cy="1188720"/>
          </a:xfrm>
          <a:prstGeom prst="roundRect">
            <a:avLst>
              <a:gd name="adj" fmla="val 6154"/>
            </a:avLst>
          </a:prstGeom>
          <a:solidFill>
            <a:srgbClr val="13141C"/>
          </a:solidFill>
          <a:ln w="12700">
            <a:solidFill>
              <a:srgbClr val="E8414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" y="1143000"/>
            <a:ext cx="502920" cy="502920"/>
          </a:xfrm>
          <a:prstGeom prst="ellipse">
            <a:avLst/>
          </a:prstGeom>
          <a:solidFill>
            <a:srgbClr val="E84142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11430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371600" y="10972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Franco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371600" y="14173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3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Contracts • ZK circuits • Aave V3 • Protocol security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754880" y="1005840"/>
            <a:ext cx="3931920" cy="1188720"/>
          </a:xfrm>
          <a:prstGeom prst="roundRect">
            <a:avLst>
              <a:gd name="adj" fmla="val 6154"/>
            </a:avLst>
          </a:prstGeom>
          <a:solidFill>
            <a:srgbClr val="13141C"/>
          </a:solidFill>
          <a:ln w="12700">
            <a:solidFill>
              <a:srgbClr val="058A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983480" y="1143000"/>
            <a:ext cx="502920" cy="502920"/>
          </a:xfrm>
          <a:prstGeom prst="ellipse">
            <a:avLst/>
          </a:prstGeom>
          <a:solidFill>
            <a:srgbClr val="058AFF"/>
          </a:solidFill>
          <a:ln/>
        </p:spPr>
      </p:sp>
      <p:sp>
        <p:nvSpPr>
          <p:cNvPr id="10" name="Text 8"/>
          <p:cNvSpPr/>
          <p:nvPr/>
        </p:nvSpPr>
        <p:spPr>
          <a:xfrm>
            <a:off x="4983480" y="11430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5669280" y="10972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Seba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5669280" y="14173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3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ZCash RPC • ZIP-32 keys • ZK proofs • Relayer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548640" y="2423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4D3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MVP Scope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486400" y="2423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C63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Deferred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" y="2788920"/>
            <a:ext cx="8229600" cy="438912"/>
          </a:xfrm>
          <a:prstGeom prst="rect">
            <a:avLst/>
          </a:prstGeom>
          <a:solidFill>
            <a:srgbClr val="13141C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2788920"/>
            <a:ext cx="1371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Contracts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2103120" y="2788920"/>
            <a:ext cx="3200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8C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Single ZEC/USDC pair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486400" y="2788920"/>
            <a:ext cx="3017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3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Multi-asset, governance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40080" y="3227832"/>
            <a:ext cx="1371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ZK Circuits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2103120" y="3227832"/>
            <a:ext cx="3200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8C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Deposit + repayment proof (Noir)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0" y="3227832"/>
            <a:ext cx="3017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3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Solvency proof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57200" y="3666744"/>
            <a:ext cx="8229600" cy="438912"/>
          </a:xfrm>
          <a:prstGeom prst="rect">
            <a:avLst/>
          </a:prstGeom>
          <a:solidFill>
            <a:srgbClr val="13141C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3666744"/>
            <a:ext cx="1371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Frontend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2103120" y="3666744"/>
            <a:ext cx="3200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8C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Functional web app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486400" y="3666744"/>
            <a:ext cx="3017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3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Polish, mobile, education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40080" y="4105656"/>
            <a:ext cx="1371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Testing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2103120" y="4105656"/>
            <a:ext cx="3200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8C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Fuji + ZCash testnet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5486400" y="4105656"/>
            <a:ext cx="3017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3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Mainnet (needs audit)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48640" y="45262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3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Timeline: ~10-14 weeks to testnet MVP  |  2 co-founders, focused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5C63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OGBank  •  Avalanche Build Games 2026  •  8/10</a:t>
            </a:r>
            <a:endParaRPr lang="en-US" sz="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808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Metrics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8229600" cy="685800"/>
          </a:xfrm>
          <a:prstGeom prst="roundRect">
            <a:avLst>
              <a:gd name="adj" fmla="val 8000"/>
            </a:avLst>
          </a:prstGeom>
          <a:solidFill>
            <a:srgbClr val="13141C"/>
          </a:solidFill>
          <a:ln w="15240">
            <a:solidFill>
              <a:srgbClr val="E8414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1005840"/>
            <a:ext cx="1645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414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North Star: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2286000" y="1005840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ZEC in Active Escrow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1965960"/>
            <a:ext cx="1920240" cy="1645920"/>
          </a:xfrm>
          <a:prstGeom prst="roundRect">
            <a:avLst>
              <a:gd name="adj" fmla="val 3333"/>
            </a:avLst>
          </a:prstGeom>
          <a:solidFill>
            <a:srgbClr val="13141C"/>
          </a:solidFill>
          <a:ln w="12700">
            <a:solidFill>
              <a:srgbClr val="058A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20574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58A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Proof of Life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94360" y="237744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Month 1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94360" y="2697480"/>
            <a:ext cx="1645920" cy="13716"/>
          </a:xfrm>
          <a:prstGeom prst="rect">
            <a:avLst/>
          </a:prstGeom>
          <a:solidFill>
            <a:srgbClr val="222330"/>
          </a:solidFill>
          <a:ln/>
        </p:spPr>
      </p:sp>
      <p:sp>
        <p:nvSpPr>
          <p:cNvPr id="10" name="Text 8"/>
          <p:cNvSpPr/>
          <p:nvPr/>
        </p:nvSpPr>
        <p:spPr>
          <a:xfrm>
            <a:off x="594360" y="278892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C8C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deposits, full cycle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560320" y="1965960"/>
            <a:ext cx="1920240" cy="1645920"/>
          </a:xfrm>
          <a:prstGeom prst="roundRect">
            <a:avLst>
              <a:gd name="adj" fmla="val 3333"/>
            </a:avLst>
          </a:prstGeom>
          <a:solidFill>
            <a:srgbClr val="13141C"/>
          </a:solidFill>
          <a:ln w="12700">
            <a:solidFill>
              <a:srgbClr val="F4B72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697480" y="20574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4B7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Early Traction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697480" y="237744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Month 3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2697480" y="2697480"/>
            <a:ext cx="1645920" cy="13716"/>
          </a:xfrm>
          <a:prstGeom prst="rect">
            <a:avLst/>
          </a:prstGeom>
          <a:solidFill>
            <a:srgbClr val="222330"/>
          </a:solidFill>
          <a:ln/>
        </p:spPr>
      </p:sp>
      <p:sp>
        <p:nvSpPr>
          <p:cNvPr id="15" name="Text 13"/>
          <p:cNvSpPr/>
          <p:nvPr/>
        </p:nvSpPr>
        <p:spPr>
          <a:xfrm>
            <a:off x="2697480" y="278892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C8C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 deposits, 0 loss events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663440" y="1965960"/>
            <a:ext cx="1920240" cy="1645920"/>
          </a:xfrm>
          <a:prstGeom prst="roundRect">
            <a:avLst>
              <a:gd name="adj" fmla="val 3333"/>
            </a:avLst>
          </a:prstGeom>
          <a:solidFill>
            <a:srgbClr val="13141C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800600" y="20574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4D3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PMF Signal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800600" y="237744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Month 6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800600" y="2697480"/>
            <a:ext cx="1645920" cy="13716"/>
          </a:xfrm>
          <a:prstGeom prst="rect">
            <a:avLst/>
          </a:prstGeom>
          <a:solidFill>
            <a:srgbClr val="222330"/>
          </a:solidFill>
          <a:ln/>
        </p:spPr>
      </p:sp>
      <p:sp>
        <p:nvSpPr>
          <p:cNvPr id="20" name="Text 18"/>
          <p:cNvSpPr/>
          <p:nvPr/>
        </p:nvSpPr>
        <p:spPr>
          <a:xfrm>
            <a:off x="4800600" y="278892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C8C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 deposits, 20% repeat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766560" y="1965960"/>
            <a:ext cx="1920240" cy="1645920"/>
          </a:xfrm>
          <a:prstGeom prst="roundRect">
            <a:avLst>
              <a:gd name="adj" fmla="val 3333"/>
            </a:avLst>
          </a:prstGeom>
          <a:solidFill>
            <a:srgbClr val="13141C"/>
          </a:solidFill>
          <a:ln w="12700">
            <a:solidFill>
              <a:srgbClr val="E8414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903720" y="20574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414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Phase 2 Gate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903720" y="237744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Unlock Alex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903720" y="2697480"/>
            <a:ext cx="1645920" cy="13716"/>
          </a:xfrm>
          <a:prstGeom prst="rect">
            <a:avLst/>
          </a:prstGeom>
          <a:solidFill>
            <a:srgbClr val="222330"/>
          </a:solidFill>
          <a:ln/>
        </p:spPr>
      </p:sp>
      <p:sp>
        <p:nvSpPr>
          <p:cNvPr id="25" name="Text 23"/>
          <p:cNvSpPr/>
          <p:nvPr/>
        </p:nvSpPr>
        <p:spPr>
          <a:xfrm>
            <a:off x="6903720" y="278892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C8C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audit + community OK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48640" y="379476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8414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Guardrails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48640" y="40233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3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collateral loss (existential)   •   100% claim success   •   &lt; 5% proof failure   •   &gt; 99.5% relayer uptime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57200" y="4343400"/>
            <a:ext cx="8229600" cy="365760"/>
          </a:xfrm>
          <a:prstGeom prst="roundRect">
            <a:avLst>
              <a:gd name="adj" fmla="val 10000"/>
            </a:avLst>
          </a:prstGeom>
          <a:solidFill>
            <a:srgbClr val="1A1B25"/>
          </a:solidFill>
          <a:ln w="9525">
            <a:solidFill>
              <a:srgbClr val="F4B72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31520" y="434340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4B7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Problem validation: 192/250. Strong on frequency &amp; intensity. Needs user interviews to confirm WTP.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5C63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OGBank  •  Avalanche Build Games 2026  •  9/10</a:t>
            </a:r>
            <a:endParaRPr lang="en-US" sz="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808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E84142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18872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spc="300" kern="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OGBank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548640" y="219456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8C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Access DeFi. Keep your ZEC.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301752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8414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$255M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342900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3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Idle ZEC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2560320" y="301752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4B7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5x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2560320" y="342900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3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2-Year Growth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663440" y="301752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58A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$0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4663440" y="342900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3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ZEC on AVAX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6766560" y="301752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4D3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6766560" y="342900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3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Builders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548640" y="4206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3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Franco &amp; Seba  |  Avalanche Build Games 2026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5C63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OGBank  •  Avalanche Build Games 2026  •  10/10</a:t>
            </a:r>
            <a:endParaRPr lang="en-US" sz="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OGBank — Avalanche Build Games 2026</dc:title>
  <dc:subject>PptxGenJS Presentation</dc:subject>
  <dc:creator>OGBank</dc:creator>
  <cp:lastModifiedBy>OGBank</cp:lastModifiedBy>
  <cp:revision>1</cp:revision>
  <dcterms:created xsi:type="dcterms:W3CDTF">2026-02-23T12:55:27Z</dcterms:created>
  <dcterms:modified xsi:type="dcterms:W3CDTF">2026-02-23T12:55:27Z</dcterms:modified>
</cp:coreProperties>
</file>