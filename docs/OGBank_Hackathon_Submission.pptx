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6858000" y="-457200"/>
            <a:ext cx="3200400" cy="2286000"/>
          </a:xfrm>
          <a:prstGeom prst="rect">
            <a:avLst/>
          </a:prstGeom>
          <a:solidFill>
            <a:srgbClr val="E84142">
              <a:alpha val="8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7315200" y="-182880"/>
            <a:ext cx="2743200" cy="1828800"/>
          </a:xfrm>
          <a:prstGeom prst="rect">
            <a:avLst/>
          </a:prstGeom>
          <a:solidFill>
            <a:srgbClr val="E84142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OGBank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DeFi. Keep your ZEC.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your ZCash. Get liquidity on Avalanche.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collateral stays private. Your loan is real.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6177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Build Games 2026  |  Franco &amp; Seba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realities collide in crypto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25603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3931920" cy="54864"/>
          </a:xfrm>
          <a:prstGeom prst="rect">
            <a:avLst/>
          </a:prstGeom>
          <a:solidFill>
            <a:srgbClr val="E8414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Lending is a Glass House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2402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DD5"/>
                </a:solidFill>
              </a:rPr>
              <a:t>Every position on Aave or Compound is fully public: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2A0"/>
                </a:solidFill>
              </a:rPr>
              <a:t>  Your collateral, debt, and liquidation price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2A0"/>
                </a:solidFill>
              </a:rPr>
              <a:t>  MEV bots front-run your liquidations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2A0"/>
                </a:solidFill>
              </a:rPr>
              <a:t>  Whale watchers profile your net worth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2A0"/>
                </a:solidFill>
              </a:rPr>
              <a:t>  Targeted attacks on your positions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463040"/>
            <a:ext cx="3931920" cy="25603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46304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916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Coins Locked Out of DeFi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0" y="22402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DD5"/>
                </a:solidFill>
              </a:rPr>
              <a:t>ZCash has the best privacy tech in crypto, but: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2A0"/>
                </a:solidFill>
              </a:rPr>
              <a:t>  5.1M ZEC (~$255M) in shielded pools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2A0"/>
                </a:solidFill>
              </a:rPr>
              <a:t>  5x growth in under 2 years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2A0"/>
                </a:solidFill>
              </a:rPr>
              <a:t>  Zero DeFi access for ZEC holders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2A0"/>
                </a:solidFill>
              </a:rPr>
              <a:t>  290K ZEC wrapped on other chains, 0 on AVAX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" y="42976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care most about privacy are excluded from lending. People who use lending have zero privacy.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ZCash. Prove you have collateral. Borrow USDC. Nobody sees what you own.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23774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5603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ZEC to your OGBank escrow address. Get a viewing key to monitor your balance.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06040" cy="23774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2606040" cy="54864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41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29000" y="2148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&amp; Borrow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25603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browser generates a ZK proof of deposit. Borrow USDC from Aave V3 on Avalanche.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06040" cy="23774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463040"/>
            <a:ext cx="26060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63640" y="2148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 &amp; Claim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5603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 USDC. Prove repayment. Get your ZEC back at your original address.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Privacy by default</a:t>
            </a:r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   |  Built on Aave V3   |  ZK proofs invisible to users   |  First private lending on Avalanche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privacy: ZCash collateral verified by ZK proofs on Avalanche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560320" cy="29260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6304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ZCash Network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Escrow Address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B92A0"/>
                </a:solidFill>
              </a:rPr>
              <a:t>(Protocol holds spending key)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Deposit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B92A0"/>
                </a:solidFill>
              </a:rPr>
              <a:t>(Shielded ZEC transfer)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Viewing Key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B92A0"/>
                </a:solidFill>
              </a:rPr>
              <a:t>(User verifies balance)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2560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Proof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2926080"/>
            <a:ext cx="1280160" cy="0"/>
          </a:xfrm>
          <a:prstGeom prst="line">
            <a:avLst/>
          </a:prstGeom>
          <a:noFill/>
          <a:ln w="25400">
            <a:solidFill>
              <a:srgbClr val="E84142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16052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4206240" cy="29260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463040"/>
            <a:ext cx="4206240" cy="54864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645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C-Chain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2103120"/>
            <a:ext cx="1920240" cy="594360"/>
          </a:xfrm>
          <a:prstGeom prst="rect">
            <a:avLst/>
          </a:prstGeom>
          <a:solidFill>
            <a:srgbClr val="1417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2103120"/>
            <a:ext cx="54864" cy="59436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OGBankContract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borrow/repay lifecycle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2834640"/>
            <a:ext cx="1920240" cy="594360"/>
          </a:xfrm>
          <a:prstGeom prst="rect">
            <a:avLst/>
          </a:prstGeom>
          <a:solidFill>
            <a:srgbClr val="1417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834640"/>
            <a:ext cx="54864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Ultrahonk Verifier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154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ZK proof verification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20840" y="2103120"/>
            <a:ext cx="1920240" cy="594360"/>
          </a:xfrm>
          <a:prstGeom prst="rect">
            <a:avLst/>
          </a:prstGeom>
          <a:solidFill>
            <a:srgbClr val="1417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210312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Aave V3 Pool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USDC borrows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20840" y="2834640"/>
            <a:ext cx="1920240" cy="594360"/>
          </a:xfrm>
          <a:prstGeom prst="rect">
            <a:avLst/>
          </a:prstGeom>
          <a:solidFill>
            <a:srgbClr val="1417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20840" y="2834640"/>
            <a:ext cx="54864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to User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3154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 funds arrive in wallet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3611880"/>
            <a:ext cx="3931920" cy="502920"/>
          </a:xfrm>
          <a:prstGeom prst="rect">
            <a:avLst/>
          </a:prstGeom>
          <a:solidFill>
            <a:srgbClr val="141720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36118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OGBank Relayer — Manages ZCash escrow, submits privacy-preserving txs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$255M in shielded ZEC with zero DeFi access. Avalanche has captured none of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965960" cy="18288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1965960" cy="54864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6002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841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5.1M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ZEC in shielded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~$255M value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417320"/>
            <a:ext cx="1965960" cy="18288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41732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6002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5x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14600" y="2194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 years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2697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Parabolic trend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1965960" cy="18288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41732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6002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290K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63440" y="2194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ZEC on other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697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$14.5M bridged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1417320"/>
            <a:ext cx="1965960" cy="18288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1417320"/>
            <a:ext cx="19659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16002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812280" y="2194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ZEC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2697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OGBank changes this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ZEC on Other Chains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94760"/>
          <a:ext cx="3840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Chain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Wrapped ZEC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1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CDD5"/>
                          </a:solidFill>
                        </a:rPr>
                        <a:t>Solana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CDD5"/>
                          </a:solidFill>
                        </a:rPr>
                        <a:t>~150K ZEC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CDD5"/>
                          </a:solidFill>
                        </a:rPr>
                        <a:t>~$7.5M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CDD5"/>
                          </a:solidFill>
                        </a:rPr>
                        <a:t>BSC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CDD5"/>
                          </a:solidFill>
                        </a:rPr>
                        <a:t>~110K ZEC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CDD5"/>
                          </a:solidFill>
                        </a:rPr>
                        <a:t>~$5.5M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CDD5"/>
                          </a:solidFill>
                        </a:rPr>
                        <a:t>Near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CDD5"/>
                          </a:solidFill>
                        </a:rPr>
                        <a:t>~20K ZEC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CDD5"/>
                          </a:solidFill>
                        </a:rPr>
                        <a:t>~$1M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4142"/>
                          </a:solidFill>
                        </a:rPr>
                        <a:t>Avalanche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4142"/>
                          </a:solidFill>
                        </a:rPr>
                        <a:t>0 ZEC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4142"/>
                          </a:solidFill>
                        </a:rPr>
                        <a:t>$0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4754880" y="3474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OGBank Brings to Avalanche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754880" y="38404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CDD5"/>
                </a:solidFill>
              </a:rPr>
              <a:t>  New capital category (zero ZEC exists on AVAX today)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CDD5"/>
                </a:solidFill>
              </a:rPr>
              <a:t>  $1-7.5M new TVL from ZEC collateral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CDD5"/>
                </a:solidFill>
              </a:rPr>
              <a:t>  Boosts Aave V3 utilization (feeds, not competes)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CDD5"/>
                </a:solidFill>
              </a:rPr>
              <a:t>  First privacy lending on any major EVM chain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CDD5"/>
                </a:solidFill>
              </a:rPr>
              <a:t>  Pipeline from ZCash’s active user base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 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023360" cy="34747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402336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325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— The ZCash Native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187452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1: LAUNCH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B92A0"/>
                </a:solidFill>
              </a:rPr>
              <a:t>Age 25-45, deeply crypto-native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B92A0"/>
                </a:solidFill>
              </a:rPr>
              <a:t>Privacy is a core belief, not a preference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C8CDD5"/>
                </a:solidFill>
              </a:rPr>
              <a:t>Job to be done: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</a:rPr>
              <a:t>“I want to use my shielded ZEC in DeFi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</a:rPr>
              <a:t>without breaking privacy.”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8CDD5"/>
                </a:solidFill>
              </a:rPr>
              <a:t>Needs from us: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CDD5"/>
                </a:solidFill>
              </a:rPr>
              <a:t>  Open-source Noir circuits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CDD5"/>
                </a:solidFill>
              </a:rPr>
              <a:t>  Honest trust model documentation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CDD5"/>
                </a:solidFill>
              </a:rPr>
              <a:t>  ZCash-native wallet integration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4023360" cy="34747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97280"/>
            <a:ext cx="4023360" cy="54864"/>
          </a:xfrm>
          <a:prstGeom prst="rect">
            <a:avLst/>
          </a:prstGeom>
          <a:solidFill>
            <a:srgbClr val="8B92A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258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325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— The Private Holder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029200" y="187452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2A0"/>
                </a:solidFill>
              </a:rPr>
              <a:t>Phase 2: GROWTH (deferred)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B92A0"/>
                </a:solidFill>
              </a:rPr>
              <a:t>Age 28-40, crypto-curious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B92A0"/>
                </a:solidFill>
              </a:rPr>
              <a:t>Values privacy but not a maximalist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B92A0"/>
                </a:solidFill>
              </a:rPr>
              <a:t>Job to be done: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B92A0"/>
                </a:solidFill>
              </a:rPr>
              <a:t>“I want to borrow against my crypto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B92A0"/>
                </a:solidFill>
              </a:rPr>
              <a:t>without revealing my holdings.”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b="1" dirty="0">
                <a:solidFill>
                  <a:srgbClr val="8B92A0"/>
                </a:solidFill>
              </a:rPr>
              <a:t>Gate: 100 deposits + 0 loss + audit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B92A0"/>
                </a:solidFill>
              </a:rPr>
              <a:t>Trust signal: “Used by the ZCash community”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B92A0"/>
                </a:solidFill>
              </a:rPr>
              <a:t>Channel: SEO, Twitter, partnerships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Journey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discovery to getting your ZEC back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298448" cy="29260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71600"/>
            <a:ext cx="129844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5544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21031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42316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OGBank via crypto communities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324612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" y="34290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too good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72768" y="256032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719072" y="1371600"/>
            <a:ext cx="1298448" cy="29260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719072" y="1371600"/>
            <a:ext cx="1298448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Shape 13"/>
          <p:cNvSpPr/>
          <p:nvPr/>
        </p:nvSpPr>
        <p:spPr>
          <a:xfrm>
            <a:off x="2139696" y="15544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13969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64792" y="21031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64792" y="242316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3-step value: Deposit, Prove, Borrow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64792" y="324612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764792" y="34290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Jargon or unclear model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17520" y="256032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163824" y="1371600"/>
            <a:ext cx="1298448" cy="29260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63824" y="1371600"/>
            <a:ext cx="1298448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3584448" y="15544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358444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09544" y="21031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9544" y="242316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wallet, deposits ZEC to escrow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9544" y="324612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09544" y="34290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Two-wallet friction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62272" y="256032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608576" y="1371600"/>
            <a:ext cx="1298448" cy="29260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08576" y="1371600"/>
            <a:ext cx="129844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Shape 31"/>
          <p:cNvSpPr/>
          <p:nvPr/>
        </p:nvSpPr>
        <p:spPr>
          <a:xfrm>
            <a:off x="5029200" y="15544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54296" y="21031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Borrow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54296" y="242316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proof generated, USDC borrowed from Aave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54296" y="324612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54296" y="34290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gen wait time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07024" y="256032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053328" y="1371600"/>
            <a:ext cx="1298448" cy="29260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53328" y="1371600"/>
            <a:ext cx="1298448" cy="54864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42" name="Shape 40"/>
          <p:cNvSpPr/>
          <p:nvPr/>
        </p:nvSpPr>
        <p:spPr>
          <a:xfrm>
            <a:off x="6473952" y="1554480"/>
            <a:ext cx="457200" cy="45720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43" name="Text 41"/>
          <p:cNvSpPr/>
          <p:nvPr/>
        </p:nvSpPr>
        <p:spPr>
          <a:xfrm>
            <a:off x="647395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099048" y="21031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99048" y="242316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position, health factor alerts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099048" y="324612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099048" y="34290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Liquidation confusion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51776" y="256032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498080" y="1371600"/>
            <a:ext cx="1298448" cy="29260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498080" y="1371600"/>
            <a:ext cx="1298448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1" name="Shape 49"/>
          <p:cNvSpPr/>
          <p:nvPr/>
        </p:nvSpPr>
        <p:spPr>
          <a:xfrm>
            <a:off x="7918704" y="15544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2" name="Text 50"/>
          <p:cNvSpPr/>
          <p:nvPr/>
        </p:nvSpPr>
        <p:spPr>
          <a:xfrm>
            <a:off x="791870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543800" y="21031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543800" y="242316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 USDC, prove repayment, ZEC returned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543800" y="324612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543800" y="34290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ZEC return delay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fullstack co-founders. Shared ownership of everything.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22860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3840480" cy="54864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Franco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Co-founder, Fullstack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CDD5"/>
                </a:solidFill>
              </a:rPr>
              <a:t>  Smart contract architecture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CDD5"/>
                </a:solidFill>
              </a:rPr>
              <a:t>  ZK circuit design (Noir)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CDD5"/>
                </a:solidFill>
              </a:rPr>
              <a:t>  Aave V3 integration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CDD5"/>
                </a:solidFill>
              </a:rPr>
              <a:t>  Protocol security &amp; relayer escrow 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840480" cy="22860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371600"/>
            <a:ext cx="3840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Seba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7492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Co-founder, Fullstack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4920" y="22860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CDD5"/>
                </a:solidFill>
              </a:rPr>
              <a:t>  ZCash integration &amp; RPC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CDD5"/>
                </a:solidFill>
              </a:rPr>
              <a:t>  Viewing key derivation (ZIP-32)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CDD5"/>
                </a:solidFill>
              </a:rPr>
              <a:t>  ZK proof system implementation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CDD5"/>
                </a:solidFill>
              </a:rPr>
              <a:t>  Relayer service design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8229600" cy="96012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931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Phase: Design &amp; Architecture (pre-implementation)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technical docs completed  |  Privacy model &amp; threat analysis  |  Product docs (personas, journey, positioning)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600000">
            <a:off x="-457200" y="3200400"/>
            <a:ext cx="3657600" cy="2743200"/>
          </a:xfrm>
          <a:prstGeom prst="rect">
            <a:avLst/>
          </a:prstGeom>
          <a:solidFill>
            <a:srgbClr val="E84142">
              <a:alpha val="9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OGBank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DeFi. Keep your ZEC.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ZCash  &gt;  Prove Collateral  &gt;  Borrow USDC  &gt;  Stay Private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Franco &amp; Seba  |  Avalanche Build Games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first gateway that routes ZCash capital into Avalanche DeFi — with privacy preserved.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OGBank — DeFi Gateway for ZCash on Avalanche</dc:title>
  <dc:subject>PptxGenJS Presentation</dc:subject>
  <dc:creator>OGBank Team</dc:creator>
  <cp:lastModifiedBy>OGBank Team</cp:lastModifiedBy>
  <cp:revision>1</cp:revision>
  <dcterms:created xsi:type="dcterms:W3CDTF">2026-02-23T21:05:22Z</dcterms:created>
  <dcterms:modified xsi:type="dcterms:W3CDTF">2026-02-23T21:05:22Z</dcterms:modified>
</cp:coreProperties>
</file>