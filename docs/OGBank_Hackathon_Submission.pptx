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720000">
            <a:off x="6858000" y="-457200"/>
            <a:ext cx="3200400" cy="2286000"/>
          </a:xfrm>
          <a:prstGeom prst="rect">
            <a:avLst/>
          </a:prstGeom>
          <a:solidFill>
            <a:srgbClr val="E84142">
              <a:alpha val="8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720000">
            <a:off x="7498080" y="-182880"/>
            <a:ext cx="2286000" cy="1645920"/>
          </a:xfrm>
          <a:prstGeom prst="rect">
            <a:avLst/>
          </a:prstGeom>
          <a:solidFill>
            <a:srgbClr val="E84142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0080"/>
            <a:ext cx="2286000" cy="36576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OGBank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DeFi. Keep your ZEC.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gateway routing ZCash capital into Avalanche DeFi—privacy preserved by design.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3520440"/>
            <a:ext cx="1508760" cy="292608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5204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DA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Noir / Ultrahonk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377440" y="3520440"/>
            <a:ext cx="1508760" cy="292608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11" name="Text 9"/>
          <p:cNvSpPr/>
          <p:nvPr/>
        </p:nvSpPr>
        <p:spPr>
          <a:xfrm>
            <a:off x="2377440" y="35204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DA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Aave V3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3360" y="3520440"/>
            <a:ext cx="1508760" cy="292608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13" name="Text 11"/>
          <p:cNvSpPr/>
          <p:nvPr/>
        </p:nvSpPr>
        <p:spPr>
          <a:xfrm>
            <a:off x="4023360" y="35204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DA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ZIP-32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0" y="3520440"/>
            <a:ext cx="1508760" cy="292608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0" y="35204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DA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Avalanche C-Chain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6177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Build Games 2026  |  Franco &amp; Seba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$255M in shielded ZEC — zero DeFi access. Avalanche has captured none of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4023360" cy="246888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71600"/>
            <a:ext cx="402336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ZCash Locked Out of DeFi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0116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CDD5"/>
                </a:solidFill>
              </a:rPr>
              <a:t>5.1M ZEC in shielded pools, growing 5x in 2 years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CDD5"/>
                </a:solidFill>
              </a:rPr>
              <a:t>290K ZEC wrapped on other chains (privacy sacrificed)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F59E0B"/>
                </a:solidFill>
              </a:rPr>
              <a:t>0 ZEC on Avalanche today — greenfield opportunity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371600"/>
            <a:ext cx="4023360" cy="246888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371600"/>
            <a:ext cx="4023360" cy="45720"/>
          </a:xfrm>
          <a:prstGeom prst="rect">
            <a:avLst/>
          </a:prstGeom>
          <a:solidFill>
            <a:srgbClr val="E8414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5448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Lending is a Glass House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983480" y="20116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</a:rPr>
              <a:t>  Collateral + debt visible to everyone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</a:rPr>
              <a:t>  MEV bots front-run liquidations ($100M+/yr)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</a:rPr>
              <a:t>  Position profiling + targeted attacks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</a:rPr>
              <a:t>  No privacy tool solves lending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5760" y="4069080"/>
            <a:ext cx="8412480" cy="594360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" y="41148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for ZEC holders to access DeFi without sacrificing privacy. OGBank is the first path — on Avalanche.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Lock. Unlock. Return. — Your ZEC stays private. Liquidity moves freely.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697480" cy="237744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17320"/>
            <a:ext cx="269748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01_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377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ZEC into OGBank escrow.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key confirms arrival.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97480" cy="237744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417320"/>
            <a:ext cx="2697480" cy="457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02_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83280" y="19202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Unlock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83280" y="2377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generates ZK proof.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USDC via Aave V3.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2697480" cy="237744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417320"/>
            <a:ext cx="269748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03_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63640" y="19202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Return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63640" y="237744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 USDC. Prove repayment.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ZEC is released back.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023360"/>
            <a:ext cx="8412480" cy="777240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0690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</a:rPr>
              <a:t>DeFi Gateway for ZCash on Avalanche</a:t>
            </a:r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</a:rPr>
              <a:t>  —  Not a mixer. Built on Aave V3. Privacy is the differentiator, not the category.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Cross-chain: ZCash collateral verified by ZK proofs on Avalanche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651760" cy="301752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32588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63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ZCASH NETWORK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Escrow Address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holds spending key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User Deposit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Shielded ZEC transfer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Viewing Key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User verifies + generates proofs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54680" y="2377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ZK Proof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54680" y="2697480"/>
            <a:ext cx="914400" cy="0"/>
          </a:xfrm>
          <a:prstGeom prst="line">
            <a:avLst/>
          </a:prstGeom>
          <a:noFill/>
          <a:ln w="25400">
            <a:solidFill>
              <a:srgbClr val="E84142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840480" y="2606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41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325880"/>
            <a:ext cx="4572000" cy="301752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325880"/>
            <a:ext cx="4572000" cy="457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13" name="Text 11"/>
          <p:cNvSpPr/>
          <p:nvPr/>
        </p:nvSpPr>
        <p:spPr>
          <a:xfrm>
            <a:off x="4480560" y="14630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AVALANCHE C-CHAIN ]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80560" y="1874520"/>
            <a:ext cx="2103120" cy="502920"/>
          </a:xfrm>
          <a:prstGeom prst="rect">
            <a:avLst/>
          </a:prstGeom>
          <a:solidFill>
            <a:srgbClr val="1A1A25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1874520"/>
            <a:ext cx="45720" cy="5029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901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OGBankContract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17720" y="2130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proofs, orchestrates loans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80560" y="2514600"/>
            <a:ext cx="2103120" cy="502920"/>
          </a:xfrm>
          <a:prstGeom prst="rect">
            <a:avLst/>
          </a:prstGeom>
          <a:solidFill>
            <a:srgbClr val="1A1A25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80560" y="2514600"/>
            <a:ext cx="4572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2542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Ultrahonk Verifier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17720" y="2770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ZK proof verification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720840" y="1874520"/>
            <a:ext cx="2103120" cy="502920"/>
          </a:xfrm>
          <a:prstGeom prst="rect">
            <a:avLst/>
          </a:prstGeom>
          <a:solidFill>
            <a:srgbClr val="1A1A25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20840" y="1874520"/>
            <a:ext cx="45720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1901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 V3 Pool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2130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USDC borrows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720840" y="2514600"/>
            <a:ext cx="2103120" cy="502920"/>
          </a:xfrm>
          <a:prstGeom prst="rect">
            <a:avLst/>
          </a:prstGeom>
          <a:solidFill>
            <a:srgbClr val="1A1A25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720840" y="2514600"/>
            <a:ext cx="4572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2542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to User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0" y="2770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arrives in wallet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480560" y="3200400"/>
            <a:ext cx="4297680" cy="411480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0" y="3200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OGBank Relayer — escrow management, privacy-preserving tx submission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80560" y="3749040"/>
            <a:ext cx="4297680" cy="502920"/>
          </a:xfrm>
          <a:prstGeom prst="rect">
            <a:avLst/>
          </a:prstGeom>
          <a:solidFill>
            <a:srgbClr val="1A1A25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0" y="37490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DA8FF"/>
                </a:solidFill>
              </a:rPr>
              <a:t>Viewing key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(user) = verify + prove   |   </a:t>
            </a:r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Spending key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(protocol) = escrow custody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Opportunity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109728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601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E841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$255M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shielded ZEC — zero DeFi access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0" y="10058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5.1M ZEC growing 5x in 2 years. Orchard pool dominates.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has captured $0 of this.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286000"/>
            <a:ext cx="2011680" cy="128016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2286000"/>
            <a:ext cx="201168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2423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5x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004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Shielded pool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2 yrs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2286000"/>
            <a:ext cx="2011680" cy="128016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14600" y="2286000"/>
            <a:ext cx="20116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2423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290K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5146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ZEC cross-chain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($14.5M bridged)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2286000"/>
            <a:ext cx="2011680" cy="128016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2286000"/>
            <a:ext cx="2011680" cy="36576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2423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41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70916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ZEC on Avalanche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2286000"/>
            <a:ext cx="2011680" cy="128016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2286000"/>
            <a:ext cx="2011680" cy="36576"/>
          </a:xfrm>
          <a:prstGeom prst="rect">
            <a:avLst/>
          </a:prstGeom>
          <a:solidFill>
            <a:srgbClr val="058AFF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2423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58A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400+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90372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private txs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(active users)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OGBank Brings to Avalanche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capital category (0 ZEC on AVAX)   •   $1–7.5M new TVL   •   Feeds Aave V3   •   First privacy DeFi on EVM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Growth Strategy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Morgan validates. Alex scales.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4023360" cy="292608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4023360" cy="45720"/>
          </a:xfrm>
          <a:prstGeom prst="rect">
            <a:avLst/>
          </a:prstGeom>
          <a:solidFill>
            <a:srgbClr val="058A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DA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1: LAUNCH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19202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D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Morgan — ZCash Native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21945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CDD5"/>
                </a:solidFill>
              </a:rPr>
              <a:t>  Already has ZEC in shielded pool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CDD5"/>
                </a:solidFill>
              </a:rPr>
              <a:t>  2 steps to first borrow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CDD5"/>
                </a:solidFill>
              </a:rPr>
              <a:t>  Low acquisition cost (ZCash forums)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CDD5"/>
                </a:solidFill>
              </a:rPr>
              <a:t>  Validates tech (reads circuits, gives feedback)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Goal: Product-market fit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Success: 100 deposits from ZCash natives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325880"/>
            <a:ext cx="4023360" cy="292608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325880"/>
            <a:ext cx="4023360" cy="45720"/>
          </a:xfrm>
          <a:prstGeom prst="rect">
            <a:avLst/>
          </a:prstGeom>
          <a:solidFill>
            <a:srgbClr val="3A3A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5087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2: GROWTH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19202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— Private Holder  (deferred)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937760" y="21945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</a:rPr>
              <a:t>  Needs to buy ZEC first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</a:rPr>
              <a:t>  5+ steps to first borrow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</a:rPr>
              <a:t>  High acquisition cost (SEO, ads)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</a:rPr>
              <a:t>  Trusts marketing, not code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Gate: 100 deposits + 0 loss + audit + community OK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A3A4A"/>
                </a:solidFill>
              </a:rPr>
              <a:t>Trust signal: "Used by the ZCash community"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2860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unlocks Phase 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Morgan's Journey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ZCash community to DeFi access on Avalanche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160020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697480" cy="36576"/>
          </a:xfrm>
          <a:prstGeom prst="rect">
            <a:avLst/>
          </a:prstGeom>
          <a:solidFill>
            <a:srgbClr val="058AF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252728"/>
            <a:ext cx="320040" cy="320040"/>
          </a:xfrm>
          <a:prstGeom prst="ellipse">
            <a:avLst/>
          </a:prstGeom>
          <a:solidFill>
            <a:srgbClr val="058AF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2527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ZCash Forum / Discord.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post, not marketing.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1143000"/>
            <a:ext cx="2697480" cy="160020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143000"/>
            <a:ext cx="26974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252728"/>
            <a:ext cx="320040" cy="3200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03320" y="12527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Diligence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code, trust model,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Noir circuits. 30–60 min.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1143000"/>
            <a:ext cx="2697480" cy="160020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1143000"/>
            <a:ext cx="269748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Shape 16"/>
          <p:cNvSpPr/>
          <p:nvPr/>
        </p:nvSpPr>
        <p:spPr>
          <a:xfrm>
            <a:off x="6172200" y="125272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12527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72200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deposit.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escrow + keys.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" y="2971800"/>
            <a:ext cx="2697480" cy="160020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2971800"/>
            <a:ext cx="269748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Shape 22"/>
          <p:cNvSpPr/>
          <p:nvPr/>
        </p:nvSpPr>
        <p:spPr>
          <a:xfrm>
            <a:off x="411480" y="3081528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30815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30815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Borrow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" y="34747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Borrows USDC.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Inspects proof assertions.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0" y="2971800"/>
            <a:ext cx="2697480" cy="160020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0" y="2971800"/>
            <a:ext cx="2697480" cy="36576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0" name="Shape 28"/>
          <p:cNvSpPr/>
          <p:nvPr/>
        </p:nvSpPr>
        <p:spPr>
          <a:xfrm>
            <a:off x="3291840" y="3081528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0" y="30815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703320" y="30815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91840" y="34747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position.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oracle independently.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80760" y="2971800"/>
            <a:ext cx="2697480" cy="160020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080760" y="2971800"/>
            <a:ext cx="269748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72200" y="3081528"/>
            <a:ext cx="320040" cy="3200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6172200" y="30815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583680" y="30815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172200" y="34747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Repays USDC. Verifies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ZEC return on-chain.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Team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fullstack co-founders. Shared ownership. Zero hierarchy.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023360" cy="155448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80160"/>
            <a:ext cx="4023360" cy="45720"/>
          </a:xfrm>
          <a:prstGeom prst="rect">
            <a:avLst/>
          </a:prstGeom>
          <a:solidFill>
            <a:srgbClr val="E8414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— Co-founder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8745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 •  ZK circuits (Noir)  •  Aave V3  •  Protocol security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54880" y="1280160"/>
            <a:ext cx="4023360" cy="155448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280160"/>
            <a:ext cx="4023360" cy="45720"/>
          </a:xfrm>
          <a:prstGeom prst="rect">
            <a:avLst/>
          </a:prstGeom>
          <a:solidFill>
            <a:srgbClr val="058A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 — Co-founder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937760" y="18745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ZCash RPC  •  ZIP-32 keys  •  ZK proofs  •  Relayer service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7200" y="3017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Scope — Build Now vs. Deferred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291840"/>
          <a:ext cx="8412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1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Build Now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1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Phase 2+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14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8CDD5"/>
                          </a:solidFill>
                        </a:rPr>
                        <a:t>Contracts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8CDD5"/>
                          </a:solidFill>
                        </a:rPr>
                        <a:t>Single ZEC/USDC pair via Aave V3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</a:rPr>
                        <a:t>Multi-asset, governance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8CDD5"/>
                          </a:solidFill>
                        </a:rPr>
                        <a:t>ZK Circuits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8CDD5"/>
                          </a:solidFill>
                        </a:rPr>
                        <a:t>Deposit + repayment proof (Noir)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</a:rPr>
                        <a:t>Solvency proof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8CDD5"/>
                          </a:solidFill>
                        </a:rPr>
                        <a:t>Frontend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8CDD5"/>
                          </a:solidFill>
                        </a:rPr>
                        <a:t>Functional web app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</a:rPr>
                        <a:t>Polish, mobile, education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8CDD5"/>
                          </a:solidFill>
                        </a:rPr>
                        <a:t>Testing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8CDD5"/>
                          </a:solidFill>
                        </a:rPr>
                        <a:t>Fuji + ZCash testnet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</a:rPr>
                        <a:t>Mainnet (needs audit)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1E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457200" y="46634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Timeline: ~10–14 weeks to testnet MVP  |  2 co-founders, focused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Metrics &amp; Honest Assessment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685800"/>
          </a:xfrm>
          <a:prstGeom prst="rect">
            <a:avLst/>
          </a:prstGeom>
          <a:solidFill>
            <a:srgbClr val="12121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60120"/>
            <a:ext cx="45720" cy="68580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Star:  Total ZEC in Active Escrow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gameable. Directly measures core value.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Success Criteria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148840"/>
            <a:ext cx="8412480" cy="411480"/>
          </a:xfrm>
          <a:prstGeom prst="rect">
            <a:avLst/>
          </a:prstGeom>
          <a:solidFill>
            <a:srgbClr val="12121A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2148840"/>
            <a:ext cx="4572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Life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2148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deposits, full borrow-repay-claim cycle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40880" y="2148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651760"/>
            <a:ext cx="8412480" cy="411480"/>
          </a:xfrm>
          <a:prstGeom prst="rect">
            <a:avLst/>
          </a:prstGeom>
          <a:solidFill>
            <a:srgbClr val="12121A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2651760"/>
            <a:ext cx="45720" cy="411480"/>
          </a:xfrm>
          <a:prstGeom prst="rect">
            <a:avLst/>
          </a:prstGeom>
          <a:solidFill>
            <a:srgbClr val="058AFF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8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Traction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2651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deposits, 0 loss events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2651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8412480" cy="411480"/>
          </a:xfrm>
          <a:prstGeom prst="rect">
            <a:avLst/>
          </a:prstGeom>
          <a:solidFill>
            <a:srgbClr val="12121A"/>
          </a:solidFill>
          <a:ln/>
        </p:spPr>
      </p:sp>
      <p:sp>
        <p:nvSpPr>
          <p:cNvPr id="19" name="Shape 17"/>
          <p:cNvSpPr/>
          <p:nvPr/>
        </p:nvSpPr>
        <p:spPr>
          <a:xfrm>
            <a:off x="365760" y="3154680"/>
            <a:ext cx="45720" cy="411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1546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 Signal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3154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deposits, 20%+ repeat usage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4088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657600"/>
            <a:ext cx="8412480" cy="411480"/>
          </a:xfrm>
          <a:prstGeom prst="rect">
            <a:avLst/>
          </a:prstGeom>
          <a:solidFill>
            <a:srgbClr val="12121A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3657600"/>
            <a:ext cx="4572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657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Gate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3657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above + audit + community OK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40880" y="3657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Alex UX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251960"/>
            <a:ext cx="8412480" cy="594360"/>
          </a:xfrm>
          <a:prstGeom prst="rect">
            <a:avLst/>
          </a:prstGeom>
          <a:solidFill>
            <a:srgbClr val="1A1A25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15968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68680" y="42976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validation: 192/250. Strong on frequency &amp; intensity. Needs user interviews to confirm WTP.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914400" y="3200400"/>
            <a:ext cx="4572000" cy="3200400"/>
          </a:xfrm>
          <a:prstGeom prst="rect">
            <a:avLst/>
          </a:prstGeom>
          <a:solidFill>
            <a:srgbClr val="E84142">
              <a:alpha val="9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822960"/>
            <a:ext cx="2286000" cy="36576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OGBank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371600" y="17373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DeFi. Keep your ZEC.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3774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ZEC  &gt;  Unlock Liquidity  &gt;  Access Avalanche DeFi  &gt;  Return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41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$255M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ZEC Capital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834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41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5x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8346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2 Years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41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ZEC on Avalanche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41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7512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D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Fullstack Builders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069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&amp; Seba  |  Avalanche Build Games 2026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4526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gateway routing ZCash capital into Avalanche DeFi — with privacy preserved.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OGBank - DeFi Gateway for ZCash on Avalanche</dc:title>
  <dc:subject>PptxGenJS Presentation</dc:subject>
  <dc:creator>OGBank Team</dc:creator>
  <cp:lastModifiedBy>OGBank Team</cp:lastModifiedBy>
  <cp:revision>1</cp:revision>
  <dcterms:created xsi:type="dcterms:W3CDTF">2026-02-23T13:54:10Z</dcterms:created>
  <dcterms:modified xsi:type="dcterms:W3CDTF">2026-02-23T13:54:10Z</dcterms:modified>
</cp:coreProperties>
</file>